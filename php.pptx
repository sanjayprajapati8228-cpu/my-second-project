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35" r:id="rId4"/>
  </p:sldMasterIdLst>
  <p:notesMasterIdLst>
    <p:notesMasterId r:id="rId48"/>
  </p:notesMasterIdLst>
  <p:sldIdLst>
    <p:sldId id="272" r:id="rId5"/>
    <p:sldId id="273" r:id="rId6"/>
    <p:sldId id="274" r:id="rId7"/>
    <p:sldId id="275" r:id="rId8"/>
    <p:sldId id="279" r:id="rId9"/>
    <p:sldId id="280" r:id="rId10"/>
    <p:sldId id="281" r:id="rId11"/>
    <p:sldId id="282" r:id="rId12"/>
    <p:sldId id="283" r:id="rId13"/>
    <p:sldId id="312" r:id="rId14"/>
    <p:sldId id="307" r:id="rId15"/>
    <p:sldId id="308" r:id="rId16"/>
    <p:sldId id="309" r:id="rId17"/>
    <p:sldId id="310" r:id="rId18"/>
    <p:sldId id="311" r:id="rId19"/>
    <p:sldId id="313" r:id="rId20"/>
    <p:sldId id="314" r:id="rId21"/>
    <p:sldId id="284" r:id="rId22"/>
    <p:sldId id="285" r:id="rId23"/>
    <p:sldId id="286" r:id="rId24"/>
    <p:sldId id="287" r:id="rId25"/>
    <p:sldId id="288" r:id="rId26"/>
    <p:sldId id="289" r:id="rId27"/>
    <p:sldId id="320" r:id="rId28"/>
    <p:sldId id="290" r:id="rId29"/>
    <p:sldId id="291" r:id="rId30"/>
    <p:sldId id="292" r:id="rId31"/>
    <p:sldId id="318" r:id="rId32"/>
    <p:sldId id="319" r:id="rId33"/>
    <p:sldId id="317" r:id="rId34"/>
    <p:sldId id="316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15" r:id="rId43"/>
    <p:sldId id="303" r:id="rId44"/>
    <p:sldId id="304" r:id="rId45"/>
    <p:sldId id="305" r:id="rId46"/>
    <p:sldId id="306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831" autoAdjust="0"/>
    <p:restoredTop sz="94660"/>
  </p:normalViewPr>
  <p:slideViewPr>
    <p:cSldViewPr snapToGrid="0">
      <p:cViewPr>
        <p:scale>
          <a:sx n="100" d="100"/>
          <a:sy n="100" d="100"/>
        </p:scale>
        <p:origin x="-942" y="-4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15086-06BC-4F78-B508-4E1F94CCB86B}" type="datetimeFigureOut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4AFE6-52F8-436F-9DAC-607E2BE5A9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3563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1DA85BB-8327-437A-900F-6A3DB7A5ABC9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8027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A0BC-E7BB-4D55-8710-E8474A66771E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8989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A1C5-682A-4617-9A91-5759A79A935B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3608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D0D0-99D2-4A10-AC62-6E2E6CF7A9EE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207849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DEDF-EB2B-4F7F-B2DF-97C28C8FCBC9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8766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0351-56D7-412F-9F2E-17819DF3B01D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9654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F068B-C601-4124-944A-AED7D3FD7517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37416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7A73-7818-460B-8F62-87CD8A1DAD1A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5985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F8665-A302-4073-9097-DCE6BA8A5D14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779524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89FA6-8D64-42DE-8A02-4A6662349BFD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546206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89FA6-8D64-42DE-8A02-4A6662349BFD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791384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89FA6-8D64-42DE-8A02-4A6662349BFD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38934552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89FA6-8D64-42DE-8A02-4A6662349BFD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7050218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89FA6-8D64-42DE-8A02-4A6662349BFD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79802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89FA6-8D64-42DE-8A02-4A6662349BFD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1032016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5E6C6-E680-4C09-9A82-6D6D4A458B45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34594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BBFA-E374-465F-B18D-F6CE71921593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4647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D89FA6-8D64-42DE-8A02-4A6662349BFD}" type="datetime1">
              <a:rPr lang="en-US" smtClean="0"/>
              <a:pPr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86971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949" y="192947"/>
            <a:ext cx="11492917" cy="628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Shree </a:t>
            </a:r>
            <a:r>
              <a:rPr lang="en-US" b="1" dirty="0" err="1">
                <a:solidFill>
                  <a:schemeClr val="bg1"/>
                </a:solidFill>
                <a:latin typeface="Arial Black" panose="020B0A04020102020204" pitchFamily="34" charset="0"/>
              </a:rPr>
              <a:t>Shambhubhai</a:t>
            </a:r>
            <a:r>
              <a:rPr lang="en-US" b="1" dirty="0">
                <a:solidFill>
                  <a:schemeClr val="bg1"/>
                </a:solidFill>
                <a:latin typeface="Arial Black" panose="020B0A04020102020204" pitchFamily="34" charset="0"/>
              </a:rPr>
              <a:t> V. Patel College of Computer Science and Business Management 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AFFILIATED TO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dirty="0">
                <a:solidFill>
                  <a:schemeClr val="bg1"/>
                </a:solidFill>
              </a:rPr>
              <a:t>VEER NARMAD SOUTH GUJARAT UNIVERSITY</a:t>
            </a:r>
          </a:p>
          <a:p>
            <a:pPr algn="ctr">
              <a:lnSpc>
                <a:spcPts val="6207"/>
              </a:lnSpc>
            </a:pPr>
            <a:endParaRPr lang="en-US" b="1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algn="ctr"/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PROJECT REPORT </a:t>
            </a:r>
          </a:p>
          <a:p>
            <a:pPr algn="ctr"/>
            <a:r>
              <a:rPr lang="en-IN" b="1" dirty="0">
                <a:solidFill>
                  <a:schemeClr val="bg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ON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CAFE MANAGEMENT SYSTEM 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 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BACHELOR OF COMPUTER APPLICATION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(B.C.A.)</a:t>
            </a:r>
            <a:endParaRPr lang="en-IN" dirty="0">
              <a:solidFill>
                <a:schemeClr val="bg1">
                  <a:lumMod val="95000"/>
                  <a:lumOff val="5000"/>
                </a:schemeClr>
              </a:solidFill>
              <a:latin typeface="Bookman Old Style" panose="02050604050505020204" pitchFamily="18" charset="0"/>
            </a:endParaRPr>
          </a:p>
          <a:p>
            <a:r>
              <a:rPr 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	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SUBMITTED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BY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															GUIDED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BY: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	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Gujrati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Jeel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(89)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												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		             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Dr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Radhika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Amlani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	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	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Katrodiya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Prince (131)																			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Kumhar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Sanjay (154)																		</a:t>
            </a:r>
            <a:r>
              <a:rPr lang="en-US" dirty="0" smtClean="0">
                <a:latin typeface="Bookman Old Style" panose="02050604050505020204" pitchFamily="18" charset="0"/>
              </a:rPr>
              <a:t>	</a:t>
            </a:r>
            <a:endParaRPr lang="en-US" dirty="0"/>
          </a:p>
        </p:txBody>
      </p:sp>
      <p:sp>
        <p:nvSpPr>
          <p:cNvPr id="3" name="AutoShape 2" descr="Shri S. V. Patel College of Comput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Shri S. V. Patel College of Computer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AAE00F47-5898-00E5-4AD3-1AC3F563E76C}"/>
              </a:ext>
            </a:extLst>
          </p:cNvPr>
          <p:cNvSpPr/>
          <p:nvPr/>
        </p:nvSpPr>
        <p:spPr>
          <a:xfrm>
            <a:off x="4945487" y="1249960"/>
            <a:ext cx="2289840" cy="2216652"/>
          </a:xfrm>
          <a:custGeom>
            <a:avLst/>
            <a:gdLst/>
            <a:ahLst/>
            <a:cxnLst/>
            <a:rect l="l" t="t" r="r" b="b"/>
            <a:pathLst>
              <a:path w="2613791" h="2613791">
                <a:moveTo>
                  <a:pt x="0" y="0"/>
                </a:moveTo>
                <a:lnTo>
                  <a:pt x="2613791" y="0"/>
                </a:lnTo>
                <a:lnTo>
                  <a:pt x="2613791" y="2613792"/>
                </a:lnTo>
                <a:lnTo>
                  <a:pt x="0" y="2613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=""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676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flipH="1">
            <a:off x="822903" y="1571625"/>
            <a:ext cx="11264319" cy="2161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6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OUR PROJECT IS</a:t>
            </a:r>
          </a:p>
          <a:p>
            <a:pPr algn="ctr">
              <a:lnSpc>
                <a:spcPct val="200000"/>
              </a:lnSpc>
            </a:pPr>
            <a:r>
              <a:rPr lang="en-US" sz="36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Bodoni MT" panose="02070603080606020203" pitchFamily="18" charset="0"/>
              </a:rPr>
              <a:t>HOSPITAL  MANAGEMENT  SYSTEM</a:t>
            </a:r>
            <a:endParaRPr lang="en-US" sz="3600" b="1" dirty="0">
              <a:solidFill>
                <a:schemeClr val="bg1">
                  <a:lumMod val="95000"/>
                  <a:lumOff val="5000"/>
                </a:schemeClr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6068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63494962"/>
              </p:ext>
            </p:extLst>
          </p:nvPr>
        </p:nvGraphicFramePr>
        <p:xfrm>
          <a:off x="1974850" y="367241"/>
          <a:ext cx="8127999" cy="593344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709333">
                  <a:extLst>
                    <a:ext uri="{9D8B030D-6E8A-4147-A177-3AD203B41FA5}">
                      <a16:colId xmlns="" xmlns:a16="http://schemas.microsoft.com/office/drawing/2014/main" val="3254351441"/>
                    </a:ext>
                  </a:extLst>
                </a:gridCol>
                <a:gridCol w="3431117">
                  <a:extLst>
                    <a:ext uri="{9D8B030D-6E8A-4147-A177-3AD203B41FA5}">
                      <a16:colId xmlns="" xmlns:a16="http://schemas.microsoft.com/office/drawing/2014/main" val="1991231646"/>
                    </a:ext>
                  </a:extLst>
                </a:gridCol>
                <a:gridCol w="1987549">
                  <a:extLst>
                    <a:ext uri="{9D8B030D-6E8A-4147-A177-3AD203B41FA5}">
                      <a16:colId xmlns="" xmlns:a16="http://schemas.microsoft.com/office/drawing/2014/main" val="2741160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TOPIC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PAGE NO.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8033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Title 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3087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5736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Introduction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768383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Aim/Objective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89640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Features of our project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98791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Technology used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83830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Limitations of existing technology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02624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Advantages of current technology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9851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E-R diagram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34844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DFD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90833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Database design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49039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Screen shots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3991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System testing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57836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limitations of current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21123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Future enhancement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8029783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57525" y="0"/>
            <a:ext cx="5667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INDEX</a:t>
            </a:r>
            <a:endParaRPr lang="en-US"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580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1050" y="247650"/>
            <a:ext cx="1045845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INTRODUCTION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DESCRIPTION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Hospital Management System (HMS)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is a software application designed to simplify and manage hospital operations.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It integrates key hospital functions like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Administration, Doctors, Patients, and Appointments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into a single platform.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HMS ensures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efficient workflow, reduced paperwork, and improved patient care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system provides a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digital and user-friendly approach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to hospital management</a:t>
            </a: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HMS project focuses on computerizing hospital processes such as patient registration, doctor management, and appointment scheduling</a:t>
            </a: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system improves efficiency, transparency, and faster hospital operations.</a:t>
            </a:r>
          </a:p>
          <a:p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84570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52089" y="0"/>
            <a:ext cx="11039911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AIM/OBJECTIVES                                              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    AIM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The 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aim of the Hospital Management System (HMS) is to digitize and automate hospital operations for better efficiency, accuracy, and patient </a:t>
            </a: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care .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To 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provide a centralized platform that connects administrators, doctors, and </a:t>
            </a: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patients 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 To 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reduce manual work, minimize errors, and save time in hospital management</a:t>
            </a: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US" sz="2000" dirty="0" smtClean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OBJECTIVES</a:t>
            </a:r>
          </a:p>
          <a:p>
            <a:endParaRPr lang="en-US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Patient Management – Enable easy registration and appointment booking for patients.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Doctor Management – Maintain details of doctors, their specialization, and availability.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Appointment Scheduling – Provide a streamlined process for booking and managing appointments.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Administration Control – Allow admins to manage doctors, patients, and appointments effectively.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Efficiency &amp; Transparency – Improve hospital workflow by reducing paperwork and delays.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User-Friendly System – Ensure the software is simple, secure, and easy to use for all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9075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799" y="398045"/>
            <a:ext cx="10363201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FEATURES OF OUR PROJECT</a:t>
            </a:r>
          </a:p>
          <a:p>
            <a:pPr algn="ctr"/>
            <a:endParaRPr lang="en-US" sz="2400" b="1" dirty="0" smtClean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Patient Registration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Simple and quick process for adding new patients.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Doctor Management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Store and manage doctor details such as name, specialization, and availability.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Appointment Scheduling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Patients can easily book, reschedule, or cancel appointments.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Admin Module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Administrator can manage patients, doctors, and appointment data.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Authentication &amp; Security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Login system for secure access to admin, doctors, and patients.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Search &amp; Filter Options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Easy retrieval of doctor or patient details.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User-Friendly Interface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Simple design that is easy to navigate for all users.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Scalability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System can be enhanced in the future to add more modules like billing, reports, or notifications.</a:t>
            </a:r>
          </a:p>
        </p:txBody>
      </p:sp>
    </p:spTree>
    <p:extLst>
      <p:ext uri="{BB962C8B-B14F-4D97-AF65-F5344CB8AC3E}">
        <p14:creationId xmlns="" xmlns:p14="http://schemas.microsoft.com/office/powerpoint/2010/main" val="72539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52525" y="190500"/>
            <a:ext cx="10001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TECHNOLOGY USED</a:t>
            </a:r>
            <a:b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25928499"/>
              </p:ext>
            </p:extLst>
          </p:nvPr>
        </p:nvGraphicFramePr>
        <p:xfrm>
          <a:off x="2032000" y="719666"/>
          <a:ext cx="8940800" cy="477266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470400">
                  <a:extLst>
                    <a:ext uri="{9D8B030D-6E8A-4147-A177-3AD203B41FA5}">
                      <a16:colId xmlns="" xmlns:a16="http://schemas.microsoft.com/office/drawing/2014/main" val="3148246836"/>
                    </a:ext>
                  </a:extLst>
                </a:gridCol>
                <a:gridCol w="4470400">
                  <a:extLst>
                    <a:ext uri="{9D8B030D-6E8A-4147-A177-3AD203B41FA5}">
                      <a16:colId xmlns="" xmlns:a16="http://schemas.microsoft.com/office/drawing/2014/main" val="173197068"/>
                    </a:ext>
                  </a:extLst>
                </a:gridCol>
              </a:tblGrid>
              <a:tr h="528109">
                <a:tc>
                  <a:txBody>
                    <a:bodyPr/>
                    <a:lstStyle/>
                    <a:p>
                      <a:r>
                        <a:rPr lang="en-US" b="0" dirty="0" smtClean="0"/>
                        <a:t>FRONT-END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PHP , HTML , CSS ,BOOTSTRAP</a:t>
                      </a:r>
                      <a:r>
                        <a:rPr lang="en-US" b="0" baseline="0" dirty="0" smtClean="0"/>
                        <a:t> , JQUERY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8419836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dirty="0" smtClean="0"/>
                        <a:t>BACK-END 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PHP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5565377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dirty="0" smtClean="0"/>
                        <a:t>DATA-BASE 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MYSQL SERVER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9462654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BROWSERS :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GOOGLE CHROME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52727516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n-US" dirty="0" smtClean="0"/>
                        <a:t>PLATFORM 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WINDOWS</a:t>
                      </a:r>
                      <a:r>
                        <a:rPr lang="en-US" baseline="0" dirty="0" smtClean="0"/>
                        <a:t> 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15292966"/>
                  </a:ext>
                </a:extLst>
              </a:tr>
              <a:tr h="521759">
                <a:tc>
                  <a:txBody>
                    <a:bodyPr/>
                    <a:lstStyle/>
                    <a:p>
                      <a:r>
                        <a:rPr lang="en-US" dirty="0" smtClean="0"/>
                        <a:t>DOCUMENTATION TOOL</a:t>
                      </a:r>
                      <a:r>
                        <a:rPr lang="en-US" baseline="0" dirty="0" smtClean="0"/>
                        <a:t> 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MICROSOFT OFFICE</a:t>
                      </a:r>
                      <a:r>
                        <a:rPr lang="en-US" baseline="0" dirty="0" smtClean="0"/>
                        <a:t> 2013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945047846"/>
                  </a:ext>
                </a:extLst>
              </a:tr>
              <a:tr h="741469">
                <a:tc>
                  <a:txBody>
                    <a:bodyPr/>
                    <a:lstStyle/>
                    <a:p>
                      <a:r>
                        <a:rPr lang="en-US" dirty="0" smtClean="0"/>
                        <a:t>GUIDE 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DR.</a:t>
                      </a:r>
                      <a:r>
                        <a:rPr lang="en-US" baseline="0" dirty="0" smtClean="0"/>
                        <a:t> RADHIKA AMLANI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53999751"/>
                  </a:ext>
                </a:extLst>
              </a:tr>
              <a:tr h="847725">
                <a:tc>
                  <a:txBody>
                    <a:bodyPr/>
                    <a:lstStyle/>
                    <a:p>
                      <a:r>
                        <a:rPr lang="en-US" dirty="0" smtClean="0"/>
                        <a:t>SUBMITTED</a:t>
                      </a:r>
                      <a:r>
                        <a:rPr lang="en-US" baseline="0" dirty="0" smtClean="0"/>
                        <a:t> TO 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Shri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Shambhu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bhai</a:t>
                      </a:r>
                      <a:r>
                        <a:rPr lang="en-US" dirty="0" smtClean="0"/>
                        <a:t> v. Patel</a:t>
                      </a:r>
                      <a:r>
                        <a:rPr lang="en-US" baseline="0" dirty="0" smtClean="0"/>
                        <a:t> College Of Computer Science and Business management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0894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10031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4874" y="361950"/>
            <a:ext cx="1033462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400" b="1" cap="small" dirty="0">
                <a:solidFill>
                  <a:schemeClr val="bg1">
                    <a:lumMod val="95000"/>
                    <a:lumOff val="5000"/>
                  </a:schemeClr>
                </a:solidFill>
              </a:rPr>
              <a:t>Limitations of Existing </a:t>
            </a:r>
            <a:r>
              <a:rPr lang="en-US" sz="2400" b="1" cap="small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System</a:t>
            </a:r>
          </a:p>
          <a:p>
            <a:pPr algn="ctr"/>
            <a:endParaRPr lang="en-US" sz="2400" b="1" cap="small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Manual </a:t>
            </a: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Workload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Patient registration, appointment booking, and doctor scheduling are done manually, leading to delays.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Paper-Based Records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Information is stored on paper, which is prone to damage, loss, and difficult to manage.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Time-Consuming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Managing patients, doctors, and appointments takes extra time and effort.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Lack of Accuracy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Chances of human errors in data entry, patient details, and scheduling.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No Centralized Access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Patients and doctors cannot access hospital information easily.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Poor Communication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Limited interaction between patients, doctors, and administrators</a:t>
            </a:r>
            <a:r>
              <a:rPr lang="en-US" altLang="en-US" dirty="0" smtClean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Data Security Issues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Paper records are not secure and can be accessed or misplaced by unauthorized persons.</a:t>
            </a:r>
            <a:endParaRPr lang="en-US" alt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1895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38250" y="339209"/>
            <a:ext cx="100584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Advantages of current </a:t>
            </a: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technology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Easy Record Keeping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pPr lvl="2"/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	Stores patient, doctor, and hospital data in digital form, reducing paperwork.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· 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Quick Access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pPr lvl="3"/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Patient details, appointments, and reports can be accessed easily when needed.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· 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Time Saving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pPr lvl="3"/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Automates tasks like registration, appointment scheduling, and billing.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· 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Improved Accuracy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pPr lvl="2"/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	Reduces chances of human errors in records and calculations.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· 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Better Patient Care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pPr lvl="2"/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	Doctors can view medical history quickly, leading to better treatment.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· 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Cost Effective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pPr lvl="2"/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	Saves resources by reducing manual work and paperwork.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· 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Data Security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pPr lvl="2"/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	Records are protected with login credentials, reducing chances of data loss.</a:t>
            </a: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· 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Scalable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</a:p>
          <a:p>
            <a:pPr lvl="2"/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	New features (like pharmacy, lab reports, or online payments) can be added in the future.</a:t>
            </a:r>
          </a:p>
          <a:p>
            <a:pPr algn="ctr"/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9956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392" y="422031"/>
            <a:ext cx="119546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ER DIAGRAM</a:t>
            </a:r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pPr>
              <a:buFont typeface="Wingdings" pitchFamily="2" charset="2"/>
              <a:buChar char="v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8645" y="858350"/>
            <a:ext cx="9815023" cy="5498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7250" y="238125"/>
            <a:ext cx="1112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										</a:t>
            </a:r>
            <a:r>
              <a:rPr lang="en-US" sz="2000" dirty="0" smtClean="0">
                <a:solidFill>
                  <a:schemeClr val="bg1"/>
                </a:solidFill>
              </a:rPr>
              <a:t>DFD OR UML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3900" y="885824"/>
            <a:ext cx="11029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 smtClean="0">
                <a:solidFill>
                  <a:schemeClr val="bg1"/>
                </a:solidFill>
              </a:rPr>
              <a:t>Dataflow diagram:</a:t>
            </a:r>
            <a:endParaRPr lang="en-IN" sz="2000" dirty="0" smtClean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1"/>
                </a:solidFill>
              </a:rPr>
              <a:t>Context level dataflow diagram:</a:t>
            </a:r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9175" y="1704975"/>
            <a:ext cx="10048875" cy="4743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6225" y="238125"/>
            <a:ext cx="1170622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1"/>
                </a:solidFill>
              </a:rPr>
              <a:t>Zero level dataflow diagram: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25" y="708547"/>
            <a:ext cx="8534400" cy="5469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6225" y="400050"/>
            <a:ext cx="1166812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1"/>
                </a:solidFill>
              </a:rPr>
              <a:t>First level data flow diagram of manage doctors: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985" y="1081089"/>
            <a:ext cx="10198828" cy="341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125" y="304800"/>
            <a:ext cx="117919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1"/>
                </a:solidFill>
              </a:rPr>
              <a:t>First level data flow diagram of manage patient: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IN" dirty="0" smtClean="0">
              <a:solidFill>
                <a:schemeClr val="bg1"/>
              </a:solidFill>
            </a:endParaRPr>
          </a:p>
          <a:p>
            <a:pPr lvl="0"/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375" y="1890714"/>
            <a:ext cx="11488738" cy="1791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025" y="314325"/>
            <a:ext cx="117919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1"/>
                </a:solidFill>
              </a:rPr>
              <a:t>First level data flow diagram of manage appointment:</a:t>
            </a: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3425" y="1212851"/>
            <a:ext cx="10077450" cy="406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4E6DEA5-04A0-BC54-B947-BB24FE97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5F36E8-310E-B485-F1CD-13296D04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062" y="126525"/>
            <a:ext cx="10353761" cy="616959"/>
          </a:xfrm>
        </p:spPr>
        <p:txBody>
          <a:bodyPr>
            <a:normAutofit/>
          </a:bodyPr>
          <a:lstStyle/>
          <a:p>
            <a:r>
              <a:rPr lang="en-US" dirty="0"/>
              <a:t>Database design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087395" y="807308"/>
            <a:ext cx="10420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USER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3543" y="1138668"/>
            <a:ext cx="8675387" cy="2156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1209675" y="3467100"/>
            <a:ext cx="9058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APPOINTMENT BOOKING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7613" y="3819525"/>
            <a:ext cx="8316911" cy="2799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575674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3F86855-6BFE-553C-1041-0753A048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95350" y="247650"/>
            <a:ext cx="106584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DOCTORS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47750" y="828675"/>
            <a:ext cx="107918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CONTACT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0950" y="623889"/>
            <a:ext cx="7702550" cy="2747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9699" y="4114800"/>
            <a:ext cx="7743825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373542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14450" y="339209"/>
            <a:ext cx="9448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Screen </a:t>
            </a:r>
            <a:r>
              <a:rPr lang="en-IN" sz="2400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lgerian" panose="04020705040A02060702" pitchFamily="82" charset="0"/>
              </a:rPr>
              <a:t>shots</a:t>
            </a:r>
            <a:endParaRPr lang="en-IN" sz="2400" b="1" dirty="0">
              <a:solidFill>
                <a:schemeClr val="bg1">
                  <a:lumMod val="95000"/>
                  <a:lumOff val="5000"/>
                </a:schemeClr>
              </a:solidFill>
              <a:latin typeface="Algerian" panose="04020705040A02060702" pitchFamily="82" charset="0"/>
            </a:endParaRPr>
          </a:p>
          <a:p>
            <a:r>
              <a:rPr lang="en-IN" sz="20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  <a:p>
            <a:endParaRPr lang="en-IN" dirty="0" smtClean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808" y="1553729"/>
            <a:ext cx="8538541" cy="405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32007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4925" y="190500"/>
            <a:ext cx="10001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Services</a:t>
            </a:r>
          </a:p>
          <a:p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552048"/>
            <a:ext cx="10001250" cy="575390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1782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5850" y="209550"/>
            <a:ext cx="9229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About us</a:t>
            </a:r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7275" y="1063043"/>
            <a:ext cx="9658350" cy="4861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78736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276225"/>
            <a:ext cx="9667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Doctor</a:t>
            </a:r>
            <a:endParaRPr lang="en-US"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5375" y="838200"/>
            <a:ext cx="9496425" cy="5740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749919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1575" y="152400"/>
            <a:ext cx="9763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G</a:t>
            </a: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allery</a:t>
            </a:r>
            <a:endParaRPr lang="en-US"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7613" y="1455739"/>
            <a:ext cx="10585400" cy="450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63087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0175" y="361950"/>
            <a:ext cx="9886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Contact</a:t>
            </a:r>
          </a:p>
          <a:p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10022" y="910812"/>
            <a:ext cx="8605528" cy="48708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011727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7675" y="323850"/>
            <a:ext cx="10677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services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3425" y="868493"/>
            <a:ext cx="9144000" cy="4227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323850"/>
            <a:ext cx="1017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Login</a:t>
            </a:r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9091" y="933180"/>
            <a:ext cx="8854109" cy="4581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26815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9675" y="190500"/>
            <a:ext cx="994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Patient  Interface</a:t>
            </a:r>
          </a:p>
          <a:p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898386"/>
            <a:ext cx="10677525" cy="477720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3936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14450" y="228600"/>
            <a:ext cx="99726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My profile </a:t>
            </a:r>
          </a:p>
          <a:p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311" y="733425"/>
            <a:ext cx="7306189" cy="592023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0449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547" y="542925"/>
            <a:ext cx="5953956" cy="60197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62100" y="66675"/>
            <a:ext cx="4438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Appointment form</a:t>
            </a:r>
            <a:endParaRPr lang="en-US"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687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333375"/>
            <a:ext cx="1090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View appointment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50" y="977789"/>
            <a:ext cx="5943600" cy="1130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0" y="133349"/>
            <a:ext cx="113156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Doctor 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interface</a:t>
            </a:r>
          </a:p>
          <a:p>
            <a:pPr marL="342900" indent="-342900"/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Login</a:t>
            </a:r>
          </a:p>
          <a:p>
            <a:pPr marL="342900" indent="-342900"/>
            <a:endParaRPr lang="en-US" b="1" dirty="0" smtClean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541" y="1057005"/>
            <a:ext cx="5268567" cy="2934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2425" y="123825"/>
            <a:ext cx="87915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Doctor dashboard</a:t>
            </a:r>
          </a:p>
          <a:p>
            <a:endParaRPr lang="en-US" b="1" dirty="0" smtClean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6639" y="1078719"/>
            <a:ext cx="9600386" cy="42648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5375" y="0"/>
            <a:ext cx="929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endParaRPr lang="en-US" sz="2000" b="1" dirty="0" smtClean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My Profile</a:t>
            </a:r>
          </a:p>
          <a:p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22" y="771524"/>
            <a:ext cx="9354856" cy="580072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96324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85875" y="228600"/>
            <a:ext cx="9591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Appointments</a:t>
            </a:r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530" y="814321"/>
            <a:ext cx="5477639" cy="94310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2511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5775" y="552450"/>
            <a:ext cx="13820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</a:t>
            </a: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atient</a:t>
            </a:r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3549" y="1613404"/>
            <a:ext cx="7096125" cy="2139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21311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52425"/>
            <a:ext cx="934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Admin interface</a:t>
            </a:r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23" y="885825"/>
            <a:ext cx="10518527" cy="51530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093083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8350" y="857250"/>
            <a:ext cx="972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octor</a:t>
            </a:r>
            <a:endParaRPr lang="en-US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4" y="1928686"/>
            <a:ext cx="10753725" cy="214801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4576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441" y="533400"/>
            <a:ext cx="6030167" cy="60483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2575" y="104775"/>
            <a:ext cx="4019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Add new doctor</a:t>
            </a:r>
            <a:endParaRPr lang="en-US"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483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9325" y="361950"/>
            <a:ext cx="626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Manage appointment</a:t>
            </a:r>
            <a:endParaRPr lang="en-US"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78" y="2138199"/>
            <a:ext cx="8554644" cy="233395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9608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5300" y="200025"/>
            <a:ext cx="1075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 smtClean="0">
                <a:solidFill>
                  <a:schemeClr val="bg1"/>
                </a:solidFill>
              </a:rPr>
              <a:t>Manage patient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2338" y="1247775"/>
            <a:ext cx="8002587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9675" y="219075"/>
            <a:ext cx="984885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System Testing</a:t>
            </a:r>
          </a:p>
          <a:p>
            <a:endParaRPr lang="en-US"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System 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Testing is performed to check whether the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Hospital Management System (HMS)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works as expected and meets all requirements</a:t>
            </a:r>
            <a:r>
              <a:rPr lang="en-US" sz="2000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  <a:p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Types of Testing Performed</a:t>
            </a: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:</a:t>
            </a:r>
          </a:p>
          <a:p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Unit Testing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Tests each module (Admin, Doctor, Patient, Appointment) individually.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Ensures all modules function correctly.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Integration Testing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Tests how different modules (e.g., Patient + Appointment, Doctor + Admin) work together.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Verifies smooth data flow between modules.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System Testing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Tests the complete HMS as a whole.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Ensures all features work correctly in the live environment.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User Acceptance Testing (UAT)</a:t>
            </a:r>
            <a:endParaRPr lang="en-US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Tests the system from the perspective of doctors, patients, and administrators.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Confirms that the HMS meets user needs and is ready for deployment.</a:t>
            </a:r>
          </a:p>
          <a:p>
            <a:endParaRPr lang="en-US" sz="28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3241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8275" y="1295400"/>
            <a:ext cx="982980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Manual </a:t>
            </a: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Operations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Most tasks like patient registration and appointment booking are done manually.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Time-Consuming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</a:t>
            </a:r>
            <a:endParaRPr lang="en-US" altLang="en-US" dirty="0" smtClean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</a:endParaRP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Managing 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patient details and doctor schedules takes extra time.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Error-Prone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</a:t>
            </a:r>
            <a:endParaRPr lang="en-US" altLang="en-US" dirty="0" smtClean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High 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chances of mistakes in maintaining patient and doctor records.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No Centralized Access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</a:t>
            </a:r>
            <a:endParaRPr lang="en-US" altLang="en-US" dirty="0" smtClean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Patients 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and doctors cannot easily access information.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Poor Data Security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– </a:t>
            </a:r>
            <a:endParaRPr lang="en-US" altLang="en-US" dirty="0" smtClean="0">
              <a:solidFill>
                <a:schemeClr val="bg1">
                  <a:lumMod val="95000"/>
                  <a:lumOff val="5000"/>
                </a:schemeClr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Records 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are stored on paper or basic files, which are not secure.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Difficult to Manage Growth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	As 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the number of patients increases, managing records becomes harder.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Limited Communication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–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en-US" dirty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No direct system for patients and doctors to interact efficiently</a:t>
            </a:r>
            <a:r>
              <a:rPr lang="en-US" altLang="en-US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.</a:t>
            </a:r>
            <a: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en-US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/>
            </a:r>
            <a:b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33550" y="365641"/>
            <a:ext cx="7820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Limitations of Current System</a:t>
            </a:r>
            <a:endParaRPr lang="en-US" sz="2000" dirty="0"/>
          </a:p>
        </p:txBody>
      </p:sp>
    </p:spTree>
    <p:extLst>
      <p:ext uri="{BB962C8B-B14F-4D97-AF65-F5344CB8AC3E}">
        <p14:creationId xmlns="" xmlns:p14="http://schemas.microsoft.com/office/powerpoint/2010/main" val="330733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90500"/>
            <a:ext cx="7810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Future </a:t>
            </a:r>
            <a:r>
              <a:rPr lang="en-US" sz="28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Enhancements</a:t>
            </a:r>
            <a:endParaRPr lang="en-US" sz="28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800" y="1247775"/>
            <a:ext cx="90106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chemeClr val="bg1">
                    <a:lumMod val="95000"/>
                    <a:lumOff val="5000"/>
                  </a:schemeClr>
                </a:solidFill>
              </a:rPr>
              <a:t>Online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Payment Integration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Allow patients to pay consultation/registration fees online.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SMS/Email Notifications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Automatic reminders for appointments and updates.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Mobile Application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A dedicated HMS mobile app for patients and doctors.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Cloud Database Support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Secure cloud storage for easy access and backup.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Telemedicine Support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Video consultation between doctors and patients.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Health Reports Module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Digital medical reports and prescriptions.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Multi-Language Support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Interface available in multiple regional languages.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AI Integration</a:t>
            </a: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– Predictive analytics for patient care and appointment optimization.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046681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5450" y="1733550"/>
            <a:ext cx="9353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ahnschrift SemiBold" panose="020B0502040204020203" pitchFamily="34" charset="0"/>
              </a:rPr>
              <a:t>THANK YOU</a:t>
            </a:r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5450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B414F3-C833-4395-8C69-0E806C5181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5FDEB4C-941C-4EBE-9462-062D8A0ADE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B8EF33-82AA-4779-AFAA-C56669D00D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1006</Words>
  <Application>Microsoft Office PowerPoint</Application>
  <PresentationFormat>Custom</PresentationFormat>
  <Paragraphs>328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Circuit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Database design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2025-09-05T06:02:40Z</dcterms:created>
  <dcterms:modified xsi:type="dcterms:W3CDTF">2025-09-07T06:53:25Z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